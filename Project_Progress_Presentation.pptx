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7863840" cy="1097280"/>
          </a:xfrm>
          <a:prstGeom prst="roundRect">
            <a:avLst/>
          </a:prstGeom>
          <a:solidFill>
            <a:srgbClr val="E6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14144A"/>
                </a:solidFill>
              </a:rPr>
              <a:t>Fake Website/URL Detection with LLM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974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1">
                <a:solidFill>
                  <a:srgbClr val="555555"/>
                </a:solidFill>
              </a:rPr>
              <a:t>Project Progress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202020"/>
                </a:solidFill>
              </a:rPr>
              <a:t>Advitya Aggarwal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75887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202020"/>
                </a:solidFill>
              </a:rPr>
              <a:t>220905146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202020"/>
                </a:solidFill>
              </a:rPr>
              <a:t>B.Tech, Computer Science &amp;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1">
                <a:solidFill>
                  <a:srgbClr val="555555"/>
                </a:solidFill>
              </a:rPr>
              <a:t>Under the guidance 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202020"/>
                </a:solidFill>
              </a:rPr>
              <a:t>Prof. Renuka A. Prabhu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1324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Professor, Dept. of CSE, MIT Manipal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202020"/>
                </a:solidFill>
              </a:rPr>
              <a:t>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Presentation 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2/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1.  </a:t>
            </a:r>
            <a:r>
              <a:rPr sz="1900">
                <a:solidFill>
                  <a:srgbClr val="202020"/>
                </a:solidFill>
              </a:rPr>
              <a:t>Introduction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2.  </a:t>
            </a:r>
            <a:r>
              <a:rPr sz="1900">
                <a:solidFill>
                  <a:srgbClr val="202020"/>
                </a:solidFill>
              </a:rPr>
              <a:t>Literature Survey / Background Theory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3.  </a:t>
            </a:r>
            <a:r>
              <a:rPr sz="1900">
                <a:solidFill>
                  <a:srgbClr val="202020"/>
                </a:solidFill>
              </a:rPr>
              <a:t>Problem Definition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4.  </a:t>
            </a:r>
            <a:r>
              <a:rPr sz="1900">
                <a:solidFill>
                  <a:srgbClr val="202020"/>
                </a:solidFill>
              </a:rPr>
              <a:t>Objectives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5.  </a:t>
            </a:r>
            <a:r>
              <a:rPr sz="1900">
                <a:solidFill>
                  <a:srgbClr val="202020"/>
                </a:solidFill>
              </a:rPr>
              <a:t>Methodology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6.  </a:t>
            </a:r>
            <a:r>
              <a:rPr sz="1900">
                <a:solidFill>
                  <a:srgbClr val="202020"/>
                </a:solidFill>
              </a:rPr>
              <a:t>System Architecture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7.  </a:t>
            </a:r>
            <a:r>
              <a:rPr sz="1900">
                <a:solidFill>
                  <a:srgbClr val="202020"/>
                </a:solidFill>
              </a:rPr>
              <a:t>Work Done So Far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8.  </a:t>
            </a:r>
            <a:r>
              <a:rPr sz="1900">
                <a:solidFill>
                  <a:srgbClr val="202020"/>
                </a:solidFill>
              </a:rPr>
              <a:t>Prototype &amp; Results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9.  </a:t>
            </a:r>
            <a:r>
              <a:rPr sz="1900">
                <a:solidFill>
                  <a:srgbClr val="202020"/>
                </a:solidFill>
              </a:rPr>
              <a:t>Remaining Work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10.  </a:t>
            </a:r>
            <a:r>
              <a:rPr sz="1900">
                <a:solidFill>
                  <a:srgbClr val="202020"/>
                </a:solidFill>
              </a:rPr>
              <a:t>Scope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11.  </a:t>
            </a:r>
            <a:r>
              <a:rPr sz="1900">
                <a:solidFill>
                  <a:srgbClr val="202020"/>
                </a:solidFill>
              </a:rPr>
              <a:t>Conclusion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E2E8F"/>
                </a:solidFill>
              </a:rPr>
              <a:t>12.  </a:t>
            </a:r>
            <a:r>
              <a:rPr sz="1900">
                <a:solidFill>
                  <a:srgbClr val="202020"/>
                </a:solidFill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1. 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3/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Phishing sites steal credentials, banking &amp; payment data via spoofed and look-alike domains and brand impersonation.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Traditional defences (blocklists, ML on static datasets) miss new, cloaked, fast-changing pages.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LLMs + Retrieval-Augmented Generation (RAG) can reason over richer evidence and explain decisions...</a:t>
            </a:r>
          </a:p>
          <a:p>
            <a:pPr lvl="1" algn="l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</a:rPr>
              <a:t>– </a:t>
            </a:r>
            <a:r>
              <a:rPr sz="1600">
                <a:solidFill>
                  <a:srgbClr val="202020"/>
                </a:solidFill>
              </a:rPr>
              <a:t>...but must be grounded in trusted evidence and protected from prompt injection in attacker-controlled content.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This project: an evidence-grounded detector that labels a URL Likely Safe / Needs Caution / High Risk, with a transparent 0–100 score and an explanation.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2.  Literature Survey / Background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4/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URL transformers — URLTran [13]: better than lexical/ML, but URL-only.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LLM-based — phishing detection with ChatGPT [1]; LLMs as one-shot URL classifiers &amp; explainers [2].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Multimodal / reference-based — KnowPhish [3]; Multimodal LLMs for webpage detection [4].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Lightweight / client-side — PhishLang (MobileBERT) [5].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Multi-agent &amp; RAG — PhishDebate [6], PhishIntentionLLM [7], PhishParrot (adaptive crawling) [8].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Security — OWASP LLM01 Prompt Injection [9], LLM08 Embedding Weaknesses [10]; feeds: PhishTank [11], OpenPhish [12].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Gap: mostly URL-only, weak explanations, limited trusted retrieval, no injection defence.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3.  Problem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5/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Given a URL: classify (Benign / Suspicious / Phishing), assign a 0–100 risk score, and give an evidence-grounded explanation — while safely handling untrusted page content.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Key challenges:</a:t>
            </a:r>
          </a:p>
          <a:p>
            <a:pPr lvl="1" algn="l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</a:rPr>
              <a:t>– </a:t>
            </a:r>
            <a:r>
              <a:rPr sz="1600">
                <a:solidFill>
                  <a:srgbClr val="202020"/>
                </a:solidFill>
              </a:rPr>
              <a:t>Catch phishing missed by URL-only methods (look-alikes, brand-in-host) — even when the page will not load.</a:t>
            </a:r>
          </a:p>
          <a:p>
            <a:pPr lvl="1" algn="l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</a:rPr>
              <a:t>– </a:t>
            </a:r>
            <a:r>
              <a:rPr sz="1600">
                <a:solidFill>
                  <a:srgbClr val="202020"/>
                </a:solidFill>
              </a:rPr>
              <a:t>Avoid false positives on legitimate sites that use words like 'login', 'account', 'payment'.</a:t>
            </a:r>
          </a:p>
          <a:p>
            <a:pPr lvl="1" algn="l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</a:rPr>
              <a:t>– </a:t>
            </a:r>
            <a:r>
              <a:rPr sz="1600">
                <a:solidFill>
                  <a:srgbClr val="202020"/>
                </a:solidFill>
              </a:rPr>
              <a:t>Make the score interpretable, not arbitrary.</a:t>
            </a:r>
          </a:p>
          <a:p>
            <a:pPr lvl="1" algn="l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</a:rPr>
              <a:t>– </a:t>
            </a:r>
            <a:r>
              <a:rPr sz="1600">
                <a:solidFill>
                  <a:srgbClr val="202020"/>
                </a:solidFill>
              </a:rPr>
              <a:t>Treat page text as untrusted — detect hidden instructions, never obey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4. 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6/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Study ML / transformer / LLM / multimodal / RAG phishing-detection techniques.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Design a safe URL-analysis and webpage-crawling pipeline (features, redirects, HTML, text, forms).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Build a lightweight RAG knowledge base of trusted security knowledge.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Score and classify using structured evidence — not raw untrusted page content.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Generate evidence-grounded explanations; implement prompt-injection filtering.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Evaluate: accuracy, precision, recall, F1, false-positive rate, latency, robustness.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5. 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7/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Modular pipeline; one shared engine behind two front-ends (Streamlit and React + FastAPI).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Flow: URL features → safe crawl → HTML + injection analysis → RAG retrieval → risk engine → explanation → verdict + report.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Evidence-conditioned scoring: retrieved knowledge adds risk only if a matching indicator was actually observed.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Transparent rule-based score with centralized weights and a per-category breakdown.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All webpage content handled as untrusted evidence (see architecture, next slide).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6. 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8/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22402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URL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234440"/>
            <a:ext cx="2331720" cy="868680"/>
          </a:xfrm>
          <a:prstGeom prst="round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Evidence Extraction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URL features · safe crawl · HTML ·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234440"/>
            <a:ext cx="2331720" cy="86868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RAG Retriever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TF-IDF over local KB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97480" y="1517904"/>
            <a:ext cx="566928" cy="310896"/>
          </a:xfrm>
          <a:prstGeom prst="rightArrow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715000" y="1517904"/>
            <a:ext cx="621792" cy="310896"/>
          </a:xfrm>
          <a:prstGeom prst="rightArrow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7269480" y="2148840"/>
            <a:ext cx="594360" cy="566928"/>
          </a:xfrm>
          <a:prstGeom prst="downArrow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788920"/>
            <a:ext cx="233172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Risk Engine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0–100 · weighted · breakdown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788920"/>
            <a:ext cx="233172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Explainer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evidence-grounded · LLM-ready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788920"/>
            <a:ext cx="2331720" cy="8686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Verdict + Report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score · JSON / Markdown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5715000" y="3072384"/>
            <a:ext cx="621792" cy="310896"/>
          </a:xfrm>
          <a:prstGeom prst="leftArrow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2697480" y="3072384"/>
            <a:ext cx="566928" cy="310896"/>
          </a:xfrm>
          <a:prstGeom prst="leftArrow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1325880" y="3703320"/>
            <a:ext cx="566928" cy="502920"/>
          </a:xfrm>
          <a:prstGeom prst="downArrow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" y="4297680"/>
            <a:ext cx="2331720" cy="77724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1800" y="4297680"/>
            <a:ext cx="2697480" cy="77724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'Sentinel' UI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via 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555555"/>
                </a:solidFill>
              </a:rPr>
              <a:t>All webpage content is treated as untrusted evidence — flagged but never executed or obeyed.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7.  Work Done So Far  (≈ 55%)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9/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URL analysis: HTTPS-first normalization, IP / @ / punycode, subdomains, shorteners, entropy.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Brand-impersonation in the URL (e.g. paypal.secure-login.net) — caught even if the page does not load.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Look-alike / typosquat detection (paypa1, g00gle) + suspicious-TLD scoring.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Safe crawler, HTML analysis, and hidden-instruction (prompt-injection) detector.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Local RAG (TF-IDF) + transparent risk engine with per-category score breakdown.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Modern React 'Sentinel' UI + FastAPI; JSON / Markdown export.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59 unit tests passing; verified end-to-end in a real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8.  Prototype — Sentinel UI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10/ 16</a:t>
            </a:r>
          </a:p>
        </p:txBody>
      </p:sp>
      <p:pic>
        <p:nvPicPr>
          <p:cNvPr id="5" name="Picture 4" descr="2-legit-github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2920864" cy="3840480"/>
          </a:xfrm>
          <a:prstGeom prst="rect">
            <a:avLst/>
          </a:prstGeom>
        </p:spPr>
      </p:pic>
      <p:pic>
        <p:nvPicPr>
          <p:cNvPr id="6" name="Picture 5" descr="1-phishing-url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97280"/>
            <a:ext cx="288317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02920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E2E8F"/>
                </a:solidFill>
              </a:rPr>
              <a:t>Legitimate site  →  Likely Safe (green)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502920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E2E8F"/>
                </a:solidFill>
              </a:rPr>
              <a:t>Phishing URL  →  High Risk (red)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8.  Representative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11/ 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80160"/>
          <a:ext cx="78638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468880"/>
                <a:gridCol w="1097280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</a:txBody>
                  <a:tcPr>
                    <a:solidFill>
                      <a:srgbClr val="2E2E8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2E2E8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2E2E8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github.com (live)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</a:rPr>
                        <a:t>Likely 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paypal-login.&lt;attacker&gt;.com (page dead)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11D48"/>
                          </a:solidFill>
                        </a:rPr>
                        <a:t>High Risk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82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g00gle-security.com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CA8A04"/>
                          </a:solidFill>
                        </a:rPr>
                        <a:t>Needs Caution+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55+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Sample phishing page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11D48"/>
                          </a:solidFill>
                        </a:rPr>
                        <a:t>High Risk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80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Sample prompt-injection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11D48"/>
                          </a:solidFill>
                        </a:rPr>
                        <a:t>High Risk (high severity)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02020"/>
                          </a:solidFill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6344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555555"/>
                </a:solidFill>
              </a:rPr>
              <a:t>Both goals met: phishing is caught even without loading the page (URL-only signals), while legitimate login pages are not flagged.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9.  Remaining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12/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Activate LLM-based classification (injection-safe prompt already prepared).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Multimodal evidence: screenshot capture + OCR.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Live threat intelligence: PhishTank / OpenPhish / blocklists.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Infrastructure signals: WHOIS / DNS / TLS (e.g. domain age).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Stronger RAG: embeddings + FAISS / Chroma (upgrade from TF-IDF).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Labelled evaluation with full metrics vs. baselines.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2E8F"/>
                </a:solidFill>
              </a:rPr>
              <a:t>▸ </a:t>
            </a:r>
            <a:r>
              <a:rPr sz="1800" b="0">
                <a:solidFill>
                  <a:srgbClr val="202020"/>
                </a:solidFill>
              </a:rPr>
              <a:t>Optional browser-extension front-end and deployment.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10. 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13/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End users (esp. non-technical): a plain-English safety check before entering credentials.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Security analysts &amp; educators: transparent, evidence-cited verdicts instead of opaque labels.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LLM-security case study: untrusted-content handling and prompt-injection defence.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Reusable, modular base for further phishing-detection research (multimodal, threat-intel, LLM).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11. 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14/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Built a working, evidence-grounded phishing-URL detector with explainable 0–100 scoring.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Key advance: URL-level brand-impersonation / look-alike detection + transparent, calibrated scoring — fewer misses and fewer false positives.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2E2E8F"/>
                </a:solidFill>
              </a:rPr>
              <a:t>▸ </a:t>
            </a:r>
            <a:r>
              <a:rPr sz="2000" b="0">
                <a:solidFill>
                  <a:srgbClr val="202020"/>
                </a:solidFill>
              </a:rPr>
              <a:t>Foundation complete (≈ 55%); next phase adds LLM reasoning, multimodal evidence, and quantitative evaluation.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FFFFFF"/>
                </a:solidFill>
              </a:rPr>
              <a:t>  12. 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15/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8229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[1] T. Koide et al., "Detecting Phishing Sites Using ChatGPT," arXiv:2306.05816, 2023.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[2] F. Rashid et al., "LLMs are One-Shot URL Classifiers and Explainers," arXiv:2409.14306, 2024.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[3] Y. Li et al., "KnowPhish," arXiv:2403.02253, 2024.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[4] J. Lee et al., "Multimodal LLMs for Phishing Webpage Detection," arXiv:2408.05941, 2024.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[5] S. S. Roy, S. Nilizadeh, "PhishLang," arXiv:2408.05667, 2024.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[6] W. Li et al., "PhishDebate," arXiv:2506.15656, 2025.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[7] W. Li et al., "PhishIntentionLLM," arXiv:2507.15419, 2025.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[8] H. Nakano et al., "PhishParrot," arXiv:2508.02035, 2025.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[9] OWASP GenAI, "LLM01:2025 Prompt Injection," 2025.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[10] OWASP GenAI, "LLM08:2025 Vector &amp; Embedding Weaknesses," 2025.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[11] PhishTank, Cisco Talos Intelligence Group.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[12] OpenPhish, "Phishing Intelligence."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02020"/>
                </a:solidFill>
              </a:rPr>
              <a:t>[13] P. Maneriker et al., "URLTran," arXiv:2106.05256, 2021.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2651760"/>
            <a:ext cx="6400800" cy="1463040"/>
          </a:xfrm>
          <a:prstGeom prst="roundRect">
            <a:avLst/>
          </a:prstGeom>
          <a:solidFill>
            <a:srgbClr val="E6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14144A"/>
                </a:solidFill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2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l"/>
            <a:r>
              <a:rPr sz="1100" b="1">
                <a:solidFill>
                  <a:srgbClr val="FFFFFF"/>
                </a:solidFill>
              </a:rPr>
              <a:t>  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6480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16/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