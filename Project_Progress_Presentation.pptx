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7863840" cy="1097280"/>
          </a:xfrm>
          <a:prstGeom prst="roundRect">
            <a:avLst/>
          </a:prstGeom>
          <a:solidFill>
            <a:srgbClr val="E6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4144A"/>
                </a:solidFill>
              </a:rPr>
              <a:t>Fake Website/URL Detection with LLM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</a:rPr>
              <a:t>Project Progress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</a:rPr>
              <a:t>Advitya Aggarwal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75887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202020"/>
                </a:solidFill>
              </a:rPr>
              <a:t>220905146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202020"/>
                </a:solidFill>
              </a:rPr>
              <a:t>B.Tech,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177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</a:rPr>
              <a:t>Under the guidance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202020"/>
                </a:solidFill>
              </a:rPr>
              <a:t>Prof. Renuka A. Prabhu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1324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Dept. of CSE, MIT Manipal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02020"/>
                </a:solidFill>
              </a:rPr>
              <a:t>July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1.  </a:t>
            </a:r>
            <a:r>
              <a:rPr sz="1600">
                <a:solidFill>
                  <a:srgbClr val="202020"/>
                </a:solidFill>
              </a:rPr>
              <a:t>Introduction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2.  </a:t>
            </a:r>
            <a:r>
              <a:rPr sz="1600">
                <a:solidFill>
                  <a:srgbClr val="202020"/>
                </a:solidFill>
              </a:rPr>
              <a:t>Literature Survey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3.  </a:t>
            </a:r>
            <a:r>
              <a:rPr sz="1600">
                <a:solidFill>
                  <a:srgbClr val="202020"/>
                </a:solidFill>
              </a:rPr>
              <a:t>Problem Definition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4.  </a:t>
            </a:r>
            <a:r>
              <a:rPr sz="1600">
                <a:solidFill>
                  <a:srgbClr val="202020"/>
                </a:solidFill>
              </a:rPr>
              <a:t>Objectives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5.  </a:t>
            </a:r>
            <a:r>
              <a:rPr sz="1600">
                <a:solidFill>
                  <a:srgbClr val="202020"/>
                </a:solidFill>
              </a:rPr>
              <a:t>Methodology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6.  </a:t>
            </a:r>
            <a:r>
              <a:rPr sz="1600">
                <a:solidFill>
                  <a:srgbClr val="202020"/>
                </a:solidFill>
              </a:rPr>
              <a:t>System Architecture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7.  </a:t>
            </a:r>
            <a:r>
              <a:rPr sz="1600">
                <a:solidFill>
                  <a:srgbClr val="202020"/>
                </a:solidFill>
              </a:rPr>
              <a:t>Status: on by default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8.  </a:t>
            </a:r>
            <a:r>
              <a:rPr sz="1600">
                <a:solidFill>
                  <a:srgbClr val="202020"/>
                </a:solidFill>
              </a:rPr>
              <a:t>Status: available but disabled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9.  </a:t>
            </a:r>
            <a:r>
              <a:rPr sz="1600">
                <a:solidFill>
                  <a:srgbClr val="202020"/>
                </a:solidFill>
              </a:rPr>
              <a:t>Genuine future work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10.  </a:t>
            </a:r>
            <a:r>
              <a:rPr sz="1600">
                <a:solidFill>
                  <a:srgbClr val="202020"/>
                </a:solidFill>
              </a:rPr>
              <a:t>Testing &amp; Evaluation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11.  </a:t>
            </a:r>
            <a:r>
              <a:rPr sz="1600">
                <a:solidFill>
                  <a:srgbClr val="202020"/>
                </a:solidFill>
              </a:rPr>
              <a:t>Limitations &amp; scoping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12.  </a:t>
            </a:r>
            <a:r>
              <a:rPr sz="1600">
                <a:solidFill>
                  <a:srgbClr val="202020"/>
                </a:solidFill>
              </a:rPr>
              <a:t>Prototype (Sentinel UI)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13.  </a:t>
            </a:r>
            <a:r>
              <a:rPr sz="1600">
                <a:solidFill>
                  <a:srgbClr val="202020"/>
                </a:solidFill>
              </a:rPr>
              <a:t>Conclusion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2E8F"/>
                </a:solidFill>
              </a:rPr>
              <a:t>14.  </a:t>
            </a:r>
            <a:r>
              <a:rPr sz="1600">
                <a:solidFill>
                  <a:srgbClr val="202020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1. 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3/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Phishing sites steal credentials via spoofed / look-alike domains and brand impersonation; new sites appear and disappear faster than blocklists update.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This system gives an evidence-grounded verdict (Likely Safe / Needs Caution / High Risk) with a transparent 0–100 score, a per-category breakdown, and a plain-English explanation.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Signals combine URL analysis, page content, prompt-injection checks, RAG, and external threat- &amp; domain-intelligence.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Scoping fact (stated up front): the classifier is a TRANSPARENT RULE ENGINE, not a trained ML/LLM model. RAG is real. No accuracy is claimed in-app; a separate harness measures it honestly.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2.  Literature Survey /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4/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2E8F"/>
                </a:solidFill>
              </a:rPr>
              <a:t>▸ </a:t>
            </a:r>
            <a:r>
              <a:rPr sz="1600">
                <a:solidFill>
                  <a:srgbClr val="202020"/>
                </a:solidFill>
              </a:rPr>
              <a:t>URL transformers — URLTran: better than lexical/ML, but URL-only.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2E8F"/>
                </a:solidFill>
              </a:rPr>
              <a:t>▸ </a:t>
            </a:r>
            <a:r>
              <a:rPr sz="1600">
                <a:solidFill>
                  <a:srgbClr val="202020"/>
                </a:solidFill>
              </a:rPr>
              <a:t>LLM-based — ChatGPT phishing detection; LLMs as one-shot URL classifiers &amp; explainers.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2E8F"/>
                </a:solidFill>
              </a:rPr>
              <a:t>▸ </a:t>
            </a:r>
            <a:r>
              <a:rPr sz="1600">
                <a:solidFill>
                  <a:srgbClr val="202020"/>
                </a:solidFill>
              </a:rPr>
              <a:t>Multimodal / reference-based — KnowPhish; multimodal LLMs over screenshots.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2E8F"/>
                </a:solidFill>
              </a:rPr>
              <a:t>▸ </a:t>
            </a:r>
            <a:r>
              <a:rPr sz="1600">
                <a:solidFill>
                  <a:srgbClr val="202020"/>
                </a:solidFill>
              </a:rPr>
              <a:t>Multi-agent &amp; RAG — PhishDebate, PhishIntentionLLM; adaptive crawling (PhishParrot).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2E8F"/>
                </a:solidFill>
              </a:rPr>
              <a:t>▸ </a:t>
            </a:r>
            <a:r>
              <a:rPr sz="1600">
                <a:solidFill>
                  <a:srgbClr val="202020"/>
                </a:solidFill>
              </a:rPr>
              <a:t>Security — OWASP LLM01 Prompt Injection, LLM08 embedding weaknesses; feeds: PhishTank, OpenPhish.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2E8F"/>
                </a:solidFill>
              </a:rPr>
              <a:t>▸ </a:t>
            </a:r>
            <a:r>
              <a:rPr sz="1600">
                <a:solidFill>
                  <a:srgbClr val="202020"/>
                </a:solidFill>
              </a:rPr>
              <a:t>Gap: mostly URL-only, weak explanations, limited trusted retrieval, no injection defence.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3.  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5/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Given a URL: classify it, assign a transparent 0–100 risk score, and give an evidence-grounded explanation — while safely handling untrusted page content.</a:t>
            </a:r>
          </a:p>
          <a:p>
            <a:pPr lvl="1">
              <a:spcAft>
                <a:spcPts val="300"/>
              </a:spcAft>
            </a:pPr>
            <a:r>
              <a:rPr sz="1400" b="1">
                <a:solidFill>
                  <a:srgbClr val="555555"/>
                </a:solidFill>
              </a:rPr>
              <a:t>– </a:t>
            </a:r>
            <a:r>
              <a:rPr sz="1400">
                <a:solidFill>
                  <a:srgbClr val="202020"/>
                </a:solidFill>
              </a:rPr>
              <a:t>Catch phishing missed by URL-only methods (look-alikes, brand-in-host) — even when the page will not load.</a:t>
            </a:r>
          </a:p>
          <a:p>
            <a:pPr lvl="1">
              <a:spcAft>
                <a:spcPts val="300"/>
              </a:spcAft>
            </a:pPr>
            <a:r>
              <a:rPr sz="1400" b="1">
                <a:solidFill>
                  <a:srgbClr val="555555"/>
                </a:solidFill>
              </a:rPr>
              <a:t>– </a:t>
            </a:r>
            <a:r>
              <a:rPr sz="1400">
                <a:solidFill>
                  <a:srgbClr val="202020"/>
                </a:solidFill>
              </a:rPr>
              <a:t>Avoid false positives on legitimate sites with 'login/account/payment' wording.</a:t>
            </a:r>
          </a:p>
          <a:p>
            <a:pPr lvl="1">
              <a:spcAft>
                <a:spcPts val="300"/>
              </a:spcAft>
            </a:pPr>
            <a:r>
              <a:rPr sz="1400" b="1">
                <a:solidFill>
                  <a:srgbClr val="555555"/>
                </a:solidFill>
              </a:rPr>
              <a:t>– </a:t>
            </a:r>
            <a:r>
              <a:rPr sz="1400">
                <a:solidFill>
                  <a:srgbClr val="202020"/>
                </a:solidFill>
              </a:rPr>
              <a:t>Make the score interpretable, not arbitrary.</a:t>
            </a:r>
          </a:p>
          <a:p>
            <a:pPr lvl="1">
              <a:spcAft>
                <a:spcPts val="300"/>
              </a:spcAft>
            </a:pPr>
            <a:r>
              <a:rPr sz="1400" b="1">
                <a:solidFill>
                  <a:srgbClr val="555555"/>
                </a:solidFill>
              </a:rPr>
              <a:t>– </a:t>
            </a:r>
            <a:r>
              <a:rPr sz="1400">
                <a:solidFill>
                  <a:srgbClr val="202020"/>
                </a:solidFill>
              </a:rPr>
              <a:t>Treat page text (and OCR text) as untrusted — detect hidden instructions, never obey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4. 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6/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Build a safe URL-analysis + crawling pipeline (features, redirects, HTML, forms).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Add a lightweight RAG knowledge base of trusted security knowledge.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Score &amp; classify using structured evidence, not raw untrusted content.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Add external intelligence: threat feeds and WHOIS/DNS/TLS with conflict scoring.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Generate evidence-grounded explanations; implement prompt-injection filtering.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Evaluate honestly with a reproducible harness (precision/recall/F1, error analysis).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5. 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7/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Modular pipeline; one shared engine behind two front-ends (Streamlit and React + FastAPI).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Flow: URL features → safe crawl → HTML + injection → threat/domain intel → RAG → risk engine → explanation.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Evidence-conditioned scoring: retrieved knowledge adds risk only when a matching indicator was observed.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Transparent rule engine: centralized weights, 11-category breakdown; bands 0–29 Safe / 30–59 Caution / 60–100 High Risk.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All webpage &amp; OCR content handled as untrusted evidence (never executed or obeyed).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6.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8/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2240280" cy="868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 URL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2331720" cy="868680"/>
          </a:xfrm>
          <a:prstGeom prst="round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Evidence extraction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URL · crawl · HTML · injection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2331720" cy="8686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Threat + domain intel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OpenPhish · WHOIS/DNS/TLS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97480" y="1517904"/>
            <a:ext cx="566928" cy="310896"/>
          </a:xfrm>
          <a:prstGeom prst="righ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715000" y="1517904"/>
            <a:ext cx="621792" cy="310896"/>
          </a:xfrm>
          <a:prstGeom prst="righ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7269480" y="2148840"/>
            <a:ext cx="594360" cy="548640"/>
          </a:xfrm>
          <a:prstGeom prst="down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788920"/>
            <a:ext cx="2331720" cy="86868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Risk engine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0–100 · 11-cat breakdown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788920"/>
            <a:ext cx="2331720" cy="8686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RAG retriever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TF-IDF over local KB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788920"/>
            <a:ext cx="2331720" cy="8686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Explainer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evidence-grounded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5715000" y="3072384"/>
            <a:ext cx="621792" cy="310896"/>
          </a:xfrm>
          <a:prstGeom prst="lef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2697480" y="3072384"/>
            <a:ext cx="566928" cy="310896"/>
          </a:xfrm>
          <a:prstGeom prst="lef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325880" y="3703320"/>
            <a:ext cx="566928" cy="502920"/>
          </a:xfrm>
          <a:prstGeom prst="down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4297680"/>
            <a:ext cx="2331720" cy="77724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Streamlit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4297680"/>
            <a:ext cx="2697480" cy="77724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React 'Sentinel' UI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via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Optional stages (Playwright render, multimodal OCR, dynamic cloaking, embedding RAG) plug in but are OFF by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7.  Status — ON by default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9/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</a:rPr>
              <a:t>11 of ~24 planned capabilities run by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URL / lexical analysis (HTTPS-first; impersonation &amp; lookalike/typosquat; suspicious TLDs).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Safe crawler (GET-only, bounded, no JS, no form submit) + offline sample mode.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HTML analysis (forms, password fields, credential language) + brand-domain check.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Prompt-injection detection (visible + hidden content).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TF-IDF RAG retrieval over a local 22-entry knowledge base (evidence-conditioned).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Threat intelligence — OpenPhish feed (cached, offline-safe).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Domain intelligence — WHOIS/DNS/TLS + cross-signal conflict layer.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Transparent rule engine (0–100, 11-category breakdown, trusted-domain allowlist).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Evidence-grounded explanation; two front-ends; JSON/Markdown export; 175 tests + eval harness.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8.  Status — available but DISABLED by default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10/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Built &amp; tested, but off so the core runs offline with no heavy deps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LLM explanation (USE_LLM=false) — wording-only; NEVER changes the score/verdict.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Embedding RAG, MiniLM + Chroma (RETRIEVER_BACKEND=tfidf) — auto-falls back to TF-IDF.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Playwright render backend (RENDER_BACKEND=requests).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Multimodal screenshot + OCR (USE_MULTIMODAL=false).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Dynamic-analysis cloaking diff — runs only with the Playwright backend.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Geo/ASN conflict type — needs a local GeoIP DB; INACTIVE by default (never fires). Other conflict types still run.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2E8F"/>
                </a:solidFill>
              </a:rPr>
              <a:t>▸ </a:t>
            </a:r>
            <a:r>
              <a:rPr sz="1500">
                <a:solidFill>
                  <a:srgbClr val="202020"/>
                </a:solidFill>
              </a:rPr>
              <a:t>PhishTank feed — needs an API key; OpenPhish is the feed that actually runs.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9.  Genuine future work (not yet built)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11/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A trained ML / deep-learning classifier (current classifier is the rule engine, by design).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LLM-backed CLASSIFICATION (today the LLM is wording-only, not a classifier).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Large-scale labelled evaluation with published metrics (harness exists; runs are small-sample).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Browser-extension front-end and deployment.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Multi-agent LLM debate.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Dedicated UI panels for the newer detection stages (they already flow into the score &amp; JSON).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10.  Testing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12/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2E8F"/>
                </a:solidFill>
              </a:rPr>
              <a:t>▸ </a:t>
            </a:r>
            <a:r>
              <a:rPr sz="1600">
                <a:solidFill>
                  <a:srgbClr val="202020"/>
                </a:solidFill>
              </a:rPr>
              <a:t>Unit/integration tests: 175 passing, 4 skipped (embedding-backend, optional deps).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2E8F"/>
                </a:solidFill>
              </a:rPr>
              <a:t>▸ </a:t>
            </a:r>
            <a:r>
              <a:rPr sz="1600">
                <a:solidFill>
                  <a:srgbClr val="202020"/>
                </a:solidFill>
              </a:rPr>
              <a:t>Reproducible harness: 300 benign (Tranco) + 300 phishing (OpenPhish), seeded.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2E8F"/>
                </a:solidFill>
              </a:rPr>
              <a:t>▸ </a:t>
            </a:r>
            <a:r>
              <a:rPr sz="1600">
                <a:solidFill>
                  <a:srgbClr val="202020"/>
                </a:solidFill>
              </a:rPr>
              <a:t>Leakage control: headline config DISABLES the threat feed so labels can't inflate the score.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108960"/>
          <a:ext cx="7863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188720"/>
                <a:gridCol w="1097280"/>
                <a:gridCol w="1097280"/>
              </a:tblGrid>
              <a:tr h="4876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>
                    <a:solidFill>
                      <a:srgbClr val="2E2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E2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2E2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E2E8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020"/>
                          </a:solidFill>
                        </a:rPr>
                        <a:t>Without threat intel (URL/HTML/domain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020"/>
                          </a:solidFill>
                        </a:rPr>
                        <a:t>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020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020"/>
                          </a:solidFill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020"/>
                          </a:solidFill>
                        </a:rPr>
                        <a:t>With threat intel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020"/>
                          </a:solidFill>
                        </a:rPr>
                        <a:t>0.97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020"/>
                          </a:solidFill>
                        </a:rPr>
                        <a:t>0.89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020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75488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The low URL-only recall (0.25) is a real limitation, kept visible: structural signals alone are high-precision but miss many phishing pages; the feed does the heavy lifting on recall.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11.  Limitations &amp; scoping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13/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Classifier is a rule engine, NOT a trained ML/LLM model; false positives/negatives expected.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URL-only recall is low (see evaluation).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Geo/ASN conflict is inactive by default (needs a local GeoIP DB).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Advanced stages (LLM, embeddings, render, multimodal, dynamic) are off by default and need extra deps.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Bundled data is DEMO data (sample_html, sample_urls.csv, trusted_domains.json, knowledge_base.json), not scraped; live modes use real sources.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RAG is real; no accuracy is claimed in-app — the harness measures it separately and honestly.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12.  Prototype — Sentinel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14/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React 'Sentinel' UI: animated risk gauge, per-category score breakdown, URL anatomy, evidence, explanation.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Streamlit UI: colour-coded result card, risk vs. safety factors, hidden-instruction check, raw-JSON advanced 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13.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15/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8387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Working, evidence-grounded phishing detector with a transparent, per-category 0–100 score.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~19 of ~24 planned capabilities implemented (~79%): 11 on by default, 8 available-but-disabled, ~5 genuine future work.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Honest evaluation: high precision; low URL-only recall; the threat feed drives recall.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2E8F"/>
                </a:solidFill>
              </a:rPr>
              <a:t>▸ </a:t>
            </a:r>
            <a:r>
              <a:rPr sz="1700">
                <a:solidFill>
                  <a:srgbClr val="202020"/>
                </a:solidFill>
              </a:rPr>
              <a:t>Next: trained ML classifier, LLM-backed classification, larger labelled evaluation, browser extension.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</a:rPr>
              <a:t>  14. 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16/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</a:rPr>
              <a:t>[1] T. Koide et al., Detecting Phishing Sites Using ChatGPT, arXiv:2306.05816, 2023.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</a:rPr>
              <a:t>[2] F. Rashid et al., LLMs are One-Shot URL Classifiers and Explainers, arXiv:2409.14306, 2024.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</a:rPr>
              <a:t>[3] OWASP GenAI Security Project, LLM01:2025 Prompt Injection, 2025.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</a:rPr>
              <a:t>[4] PhishTank (Cisco Talos); OpenPhish, Phishing Intelligence.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</a:rPr>
              <a:t>[5] Tranco: A Research-Oriented Top Sites Ranking (tranco-list.eu).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2651760"/>
            <a:ext cx="6400800" cy="1463040"/>
          </a:xfrm>
          <a:prstGeom prst="roundRect">
            <a:avLst/>
          </a:prstGeom>
          <a:solidFill>
            <a:srgbClr val="E6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14144A"/>
                </a:solidFill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2E2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4648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17/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